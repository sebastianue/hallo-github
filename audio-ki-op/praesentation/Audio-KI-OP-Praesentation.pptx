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  <p:sldId id="481" r:id="rId26"/>
    <p:sldId id="482" r:id="rId27"/>
    <p:sldId id="483" r:id="rId28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926080"/>
                <a:gridCol w="1280160"/>
              </a:tblGrid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ORPHEUS (IDM / Universitätsklinikum Hamburg-Eppendorf)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Med. Spracherkennung, OP-Berichte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E0922F"/>
                          </a:solidFill>
                          <a:latin typeface="Calibri"/>
                        </a:rPr>
                        <a:t>Teilw.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Intraoperative Live-Doku, per API ins KIS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56D96"/>
                </a:solidFill>
                <a:latin typeface="Calibri"/>
              </a:rPr>
              <a:t>Auch ORPHEUS deckt nur OP-Berichte per Diktat ab – sterile Live-Doku + echte KIS-API bleiben frei.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UMSETZUNG /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Zwei Partner-Kandidaten im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138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434343"/>
                </a:solidFill>
                <a:latin typeface="Calibri"/>
              </a:rPr>
              <a:t>Wir bauen die Sprach-Engine nicht selbst, sondern integrieren einen Partner in unser System. Zwei Kandidaten: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8046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737360"/>
                <a:gridCol w="1737360"/>
              </a:tblGrid>
              <a:tr h="3265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ORPHEUS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Sally.io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Medizinisch / klinisch erprobt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OP-Bezug vorhanden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Für uns anpassbar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DE/EU-Hosting · DSGVO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Hohe Reife / Verbreitung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API-/Integrationsstärke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Calibri"/>
              </a:rPr>
              <a:t>Aktueller Fokus:  ORPHEUS = Klinik-Dokumentation  ·  Sally.io = Konferenzen / Meetings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44568"/>
            <a:ext cx="8183879" cy="2743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572000"/>
            <a:ext cx="7909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Wir integrieren eine dieser Engines und ergänzen unseren OP-Live-/KIS-Layer (sterile Live-Doku + API).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09728" cy="713232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0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109728" cy="713232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0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63824"/>
            <a:ext cx="109728" cy="713232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3824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0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68496"/>
            <a:ext cx="109728" cy="7132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68496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00" b="0">
                <a:solidFill>
                  <a:srgbClr val="434343"/>
                </a:solidFill>
                <a:latin typeface="Calibri"/>
              </a:rPr>
              <a:t>Universitätsklinikum Hamburg-Eppendorf baute selbst ORPHEUS; Technische Universität München forscht an OP-Spracherkennung; 98 % einer Umfrage halten Sprachtechnik für wünschenswert.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3659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Calibri"/>
              </a:rPr>
              <a:t>Beleg 98 %: Fazit-Studie – 98 % halten Sprachtechnik für die Dokumentation für wünschenswert/umsetzbar, 90 % erwarten OP-taugliche Genauigkeit (berichtet via CIO.de).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Datenschutz &amp; DSGVO im 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Zwei kritische Punkte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8424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Betriebsrat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Mikrofonaufnahme von Mitarbeitenden ist mitbestimmungspflichtig → Betriebsvereinbarung nötig.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3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7296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Patientendaten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Besondere Kategorie (Art. 9 DSGVO) → Rechtsgrundlage / Einwilligung früh klären.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0876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Unser Datenschutz „by Design"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901952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EU-Hosting / On-Premise – keine Daten außerhalb der 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414016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Pseudonymisierung + Ende-zu-Ende-Verschlüsselung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AVV mit jedem Verarbeiter (Art. 28 DSGVO)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3814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Löschkonzept + Datenminimierung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9502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Normen: DSGVO · BDSG · MDR · IEC 81001-5-1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26280"/>
            <a:ext cx="8183879" cy="29260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53712"/>
            <a:ext cx="7909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DSGVO-konform + „Made in Germany" = Verkaufsargument, nicht nur Pflicht.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ZUERST: KUNDENVALIDIERUNG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Zuerst beweisen: Bedarf &amp; Zahlungsbereitschaft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34343"/>
                </a:solidFill>
                <a:latin typeface="Calibri"/>
              </a:rPr>
              <a:t>Bevor alles andere: Wir sprechen mit ~8–10 Kliniken / OP-Teams. </a:t>
            </a:r>
            <a:r>
              <a:rPr sz="1300" b="1">
                <a:solidFill>
                  <a:srgbClr val="26529E"/>
                </a:solidFill>
                <a:latin typeface="Calibri"/>
              </a:rPr>
              <a:t>Ohne erkennbaren Kundenbedarf und Zahlungsbereitschaft startet das Vorhaben nicht.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91440" cy="914400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4028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556D96"/>
                </a:solidFill>
                <a:latin typeface="Calibri"/>
              </a:rPr>
              <a:t>1 · Problem &amp; Kosten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Wie viel Zeit &amp; Geld kostet die OP-Doku heute? (Min./OP, Fehler, Nacharbeit)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14884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2148840"/>
            <a:ext cx="91440" cy="9144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4607" y="224028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6529E"/>
                </a:solidFill>
                <a:latin typeface="Calibri"/>
              </a:rPr>
              <a:t>2 · Akzeptanz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Hilft Sprache→Text? Welche Bedenken (Betriebsrat, Sterilität, Haftung)?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91440" cy="9144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29184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6529E"/>
                </a:solidFill>
                <a:latin typeface="Calibri"/>
              </a:rPr>
              <a:t>3 · Budget &amp; Entscheider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Wer kauft – aus welchem Topf? Wie läuft der Klinik-Einkauf ab?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20040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3200400"/>
            <a:ext cx="91440" cy="9144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7" y="329184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4 · Zahlungsbereitschaft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Würde das Haus zahlen? Fairer Preis? Bereitschaft zu Pilot / LOI?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70832"/>
            <a:ext cx="8183879" cy="310896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07408"/>
            <a:ext cx="7909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Beweis für die GF = 3–5 echte Zitate + quantifizierter Business Case + ≥ 2 LOIs / Pilot-Zusagen.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Vorgehen – in vier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rge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650" y="1828800"/>
            <a:ext cx="714269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Schritt 1 zuerst: Kontakte herstellen und OP-Interviews führen. Reihenfolge steht, Terminierung offen.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Entscheidung &amp; Umsetzung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30256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43600" y="1645920"/>
            <a:ext cx="2834640" cy="278892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08192" y="1783080"/>
            <a:ext cx="25420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Umsetzung mit Partner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Engine integrieren, nicht selbst bauen: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34343"/>
                </a:solidFill>
                <a:latin typeface="Calibri"/>
              </a:rPr>
              <a:t>ORPHEUS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medizinisch erprobt, DE-souverän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34343"/>
                </a:solidFill>
                <a:latin typeface="Calibri"/>
              </a:rPr>
              <a:t>Sally.io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sehr anpassbar, bisher Konferenzen</a:t>
            </a:r>
          </a:p>
          <a:p>
            <a:pPr algn="l">
              <a:spcAft>
                <a:spcPts val="200"/>
              </a:spcAft>
            </a:pPr>
            <a:r>
              <a:rPr sz="7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8B57"/>
                </a:solidFill>
                <a:latin typeface="Calibri"/>
              </a:rPr>
              <a:t>Wir ergänzen den OP-/KIS-Layer.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